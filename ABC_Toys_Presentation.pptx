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38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E9487-1B03-255C-8F87-80E963B6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42E12-06B4-E4DD-67A6-82C2CAFD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07E4C-BA55-E802-8F62-DB6BD7F2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9CFB1-9D6D-5792-5A99-D9AA8F736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80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0"/>
            <a:ext cx="12161520" cy="7315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FFFFFF"/>
                </a:solidFill>
              </a:rPr>
              <a:t>🧸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TOYS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Analysis 2022–2023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to the 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Team  |  Q4 2023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4754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stores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cities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offering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products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5 categories.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mission today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829,262 transactions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21 months of operations into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strategic priorities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2024.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Questions we'll answer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we growing? What does the trend look like?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does 2023 compare to 2022?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category is most profitable?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Which products are stars, cash cows, or dogs?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store locations are most efficient?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Are we too dependent on certain cities?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Do we have inventory problems?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months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73152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$14.4M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$4.0M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27.8%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Margin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8280" y="1645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98280" y="164592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8280" y="192024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1.09M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9828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is growing strongly — but </a:t>
            </a: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(+30.9%) outpaced profit (+16.0%)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2023, signaling margin compression.  We see clear opportunities in product mix, location strategy, and inventory.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— Are we growing?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over 21 months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0" y="1463040"/>
            <a:ext cx="3017520" cy="45720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0" y="210312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upward trend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revenue and profit are growing month-over-month.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seasonal peaks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(Children's Day) and Nov–Dec (Holidays) consistently spike.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lags revenue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widening — a margin warning sign.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F0EB7-AEB1-2DD9-3B9B-503B9D802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86" y="1554480"/>
            <a:ext cx="8453426" cy="4288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Seasonality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46508" y="411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($K) by month × year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4146883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lang="en-US" sz="18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20C3F1-45B3-2C8C-8710-04AE519D5A5B}"/>
              </a:ext>
            </a:extLst>
          </p:cNvPr>
          <p:cNvGrpSpPr/>
          <p:nvPr/>
        </p:nvGrpSpPr>
        <p:grpSpPr>
          <a:xfrm>
            <a:off x="457200" y="4628146"/>
            <a:ext cx="11338560" cy="1498333"/>
            <a:chOff x="457200" y="4297680"/>
            <a:chExt cx="11338560" cy="1828800"/>
          </a:xfrm>
        </p:grpSpPr>
        <p:sp>
          <p:nvSpPr>
            <p:cNvPr id="4" name="Shape 3"/>
            <p:cNvSpPr/>
            <p:nvPr/>
          </p:nvSpPr>
          <p:spPr>
            <a:xfrm>
              <a:off x="457200" y="4297680"/>
              <a:ext cx="3657600" cy="182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4"/>
            <p:cNvSpPr/>
            <p:nvPr/>
          </p:nvSpPr>
          <p:spPr>
            <a:xfrm>
              <a:off x="457200" y="4297680"/>
              <a:ext cx="3657600" cy="54864"/>
            </a:xfrm>
            <a:prstGeom prst="rect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685800" y="4480560"/>
              <a:ext cx="502920" cy="502920"/>
            </a:xfrm>
            <a:prstGeom prst="ellipse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" y="44805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</a:t>
              </a:r>
              <a:endParaRPr lang="en-US" sz="1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325880" y="4480560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May = Children's Day peak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85800" y="5120640"/>
              <a:ext cx="3200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Both years see strong May sales — a key promotional window.</a:t>
              </a:r>
              <a:endParaRPr lang="en-US" sz="11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4297680" y="4297680"/>
              <a:ext cx="3657600" cy="182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4297680" y="4297680"/>
              <a:ext cx="3657600" cy="54864"/>
            </a:xfrm>
            <a:prstGeom prst="rect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4526280" y="4480560"/>
              <a:ext cx="502920" cy="502920"/>
            </a:xfrm>
            <a:prstGeom prst="ellipse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4526280" y="44805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</a:t>
              </a:r>
              <a:endParaRPr lang="en-US" sz="18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166360" y="4480560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Nov–Dec = Holiday surge</a:t>
              </a:r>
              <a:endParaRPr lang="en-US" sz="14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4526280" y="5120640"/>
              <a:ext cx="3200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End-of-year shopping drives 25%+ of annual revenue.</a:t>
              </a:r>
              <a:endParaRPr lang="en-US" sz="11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8138160" y="4297680"/>
              <a:ext cx="3657600" cy="182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8138160" y="4297680"/>
              <a:ext cx="3657600" cy="54864"/>
            </a:xfrm>
            <a:prstGeom prst="rect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8366760" y="4480560"/>
              <a:ext cx="502920" cy="502920"/>
            </a:xfrm>
            <a:prstGeom prst="ellipse">
              <a:avLst/>
            </a:prstGeom>
            <a:solidFill>
              <a:srgbClr val="F96167"/>
            </a:solidFill>
            <a:ln w="12700">
              <a:solidFill>
                <a:srgbClr val="F961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8366760" y="44805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↑</a:t>
              </a:r>
              <a:endParaRPr lang="en-US" sz="18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006840" y="4480560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2023 lifts the baseline</a:t>
              </a:r>
              <a:endParaRPr lang="en-US" sz="14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8366760" y="5120640"/>
              <a:ext cx="3200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 off-peak months in 2023 exceed 2022 peaks.</a:t>
              </a:r>
              <a:endParaRPr lang="en-US" sz="1100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0E80BED-B2C4-E793-7BBC-2C15E754C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833802"/>
            <a:ext cx="9758543" cy="3256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2023 vs 2022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 months comparison (apples-to-apples)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BD7B92-2F29-1AA6-D18B-20EEDBC4AEB9}"/>
              </a:ext>
            </a:extLst>
          </p:cNvPr>
          <p:cNvGrpSpPr/>
          <p:nvPr/>
        </p:nvGrpSpPr>
        <p:grpSpPr>
          <a:xfrm>
            <a:off x="10322010" y="1645920"/>
            <a:ext cx="1382309" cy="4480560"/>
            <a:chOff x="7589520" y="1645920"/>
            <a:chExt cx="4114800" cy="4480560"/>
          </a:xfrm>
        </p:grpSpPr>
        <p:sp>
          <p:nvSpPr>
            <p:cNvPr id="5" name="Shape 2"/>
            <p:cNvSpPr/>
            <p:nvPr/>
          </p:nvSpPr>
          <p:spPr>
            <a:xfrm>
              <a:off x="7589520" y="1645920"/>
              <a:ext cx="4114800" cy="13716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" name="Shape 3"/>
            <p:cNvSpPr/>
            <p:nvPr/>
          </p:nvSpPr>
          <p:spPr>
            <a:xfrm>
              <a:off x="7589520" y="1645920"/>
              <a:ext cx="91440" cy="13716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" name="Text 4"/>
            <p:cNvSpPr/>
            <p:nvPr/>
          </p:nvSpPr>
          <p:spPr>
            <a:xfrm>
              <a:off x="7772400" y="1737360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▲ 30.9%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772400" y="251460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YoY growth</a:t>
              </a:r>
              <a:endParaRPr lang="en-US" sz="14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7589520" y="3200400"/>
              <a:ext cx="4114800" cy="13716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0" name="Shape 7"/>
            <p:cNvSpPr/>
            <p:nvPr/>
          </p:nvSpPr>
          <p:spPr>
            <a:xfrm>
              <a:off x="7589520" y="3200400"/>
              <a:ext cx="91440" cy="13716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1" name="Text 8"/>
            <p:cNvSpPr/>
            <p:nvPr/>
          </p:nvSpPr>
          <p:spPr>
            <a:xfrm>
              <a:off x="7772400" y="3291840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▲ 40.8%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772400" y="406908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Units YoY growth</a:t>
              </a:r>
              <a:endParaRPr lang="en-US" sz="14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7589520" y="4754880"/>
              <a:ext cx="4114800" cy="13716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7589520" y="4754880"/>
              <a:ext cx="91440" cy="137160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5" name="Text 12"/>
            <p:cNvSpPr/>
            <p:nvPr/>
          </p:nvSpPr>
          <p:spPr>
            <a:xfrm>
              <a:off x="7772400" y="4846320"/>
              <a:ext cx="3931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▲ 16.0%</a:t>
              </a:r>
              <a:endParaRPr lang="en-US" sz="14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772400" y="562356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YoY growth</a:t>
              </a:r>
              <a:endParaRPr lang="en-US" sz="14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128337" y="6087979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grew +40.8% but profit only +16.0% — average selling price and/or margin is slipping.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42722A-4C96-135F-E51C-4EFC2390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7682"/>
            <a:ext cx="10150720" cy="4343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Which category is most profitable?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Margin trade-off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00260" y="1647525"/>
            <a:ext cx="217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by category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01278"/>
              </p:ext>
            </p:extLst>
          </p:nvPr>
        </p:nvGraphicFramePr>
        <p:xfrm>
          <a:off x="9377012" y="2104725"/>
          <a:ext cx="2472088" cy="1554480"/>
        </p:xfrm>
        <a:graphic>
          <a:graphicData uri="http://schemas.openxmlformats.org/drawingml/2006/table">
            <a:tbl>
              <a:tblPr/>
              <a:tblGrid>
                <a:gridCol w="153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&amp; Crafts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&amp; Outdoors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2FA93BC8-9589-CEA1-4DF0-40F2558CF57C}"/>
              </a:ext>
            </a:extLst>
          </p:cNvPr>
          <p:cNvGrpSpPr/>
          <p:nvPr/>
        </p:nvGrpSpPr>
        <p:grpSpPr>
          <a:xfrm>
            <a:off x="10199971" y="4403560"/>
            <a:ext cx="1469457" cy="1737359"/>
            <a:chOff x="7589520" y="4389120"/>
            <a:chExt cx="4114800" cy="1645920"/>
          </a:xfrm>
        </p:grpSpPr>
        <p:sp>
          <p:nvSpPr>
            <p:cNvPr id="7" name="Shape 3"/>
            <p:cNvSpPr/>
            <p:nvPr/>
          </p:nvSpPr>
          <p:spPr>
            <a:xfrm>
              <a:off x="7589520" y="4389120"/>
              <a:ext cx="4114800" cy="1645920"/>
            </a:xfrm>
            <a:prstGeom prst="rect">
              <a:avLst/>
            </a:prstGeom>
            <a:solidFill>
              <a:srgbClr val="F9E795"/>
            </a:solidFill>
            <a:ln w="12700">
              <a:solidFill>
                <a:srgbClr val="F9E7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0" y="4480560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💡 Insight</a:t>
              </a:r>
              <a:endParaRPr lang="en-US" sz="13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772400" y="4846320"/>
              <a:ext cx="384048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6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Electronics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delivers the highest margin (~</a:t>
              </a:r>
              <a:r>
                <a:rPr lang="en-US" sz="1200" b="1" dirty="0">
                  <a:solidFill>
                    <a:srgbClr val="F96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45%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 but only the #3 in revenue. Room to grow.</a:t>
              </a:r>
              <a:endParaRPr lang="en-US" sz="1200" dirty="0"/>
            </a:p>
          </p:txBody>
        </p:sp>
      </p:grpSp>
      <p:sp>
        <p:nvSpPr>
          <p:cNvPr id="10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B1A8CA-02AA-E5C5-FBBE-2A6AC415A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2" y="835794"/>
            <a:ext cx="9054318" cy="5476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69CC624-7B5D-E2F4-4427-2E2D7C1E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0" y="0"/>
            <a:ext cx="106666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9197C-3A01-B2F5-2686-04CB3969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7CCD5A-176C-D639-17E2-B082D60AB5B9}"/>
              </a:ext>
            </a:extLst>
          </p:cNvPr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— Stars, Cash Cows, Question Marks, Dogs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BB3250-BDA3-74EA-2092-729D4B0DA873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35 products by Revenue × Margin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E3B765-8639-84C8-8FD3-A1A0667A0D77}"/>
              </a:ext>
            </a:extLst>
          </p:cNvPr>
          <p:cNvSpPr/>
          <p:nvPr/>
        </p:nvSpPr>
        <p:spPr>
          <a:xfrm>
            <a:off x="457200" y="146304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2AEC12-D38F-F6D4-1A5F-7AC0546C8508}"/>
              </a:ext>
            </a:extLst>
          </p:cNvPr>
          <p:cNvSpPr/>
          <p:nvPr/>
        </p:nvSpPr>
        <p:spPr>
          <a:xfrm>
            <a:off x="457200" y="1463040"/>
            <a:ext cx="9144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BCCB9F-15EB-E376-F75B-F9DFEF667DA8}"/>
              </a:ext>
            </a:extLst>
          </p:cNvPr>
          <p:cNvSpPr/>
          <p:nvPr/>
        </p:nvSpPr>
        <p:spPr>
          <a:xfrm>
            <a:off x="685800" y="1554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STARS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65E250-AD23-DE21-EDF7-87BDDD2BE292}"/>
              </a:ext>
            </a:extLst>
          </p:cNvPr>
          <p:cNvSpPr/>
          <p:nvPr/>
        </p:nvSpPr>
        <p:spPr>
          <a:xfrm>
            <a:off x="68580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+ High Margin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93793F-2818-C646-49B9-897097E513E2}"/>
              </a:ext>
            </a:extLst>
          </p:cNvPr>
          <p:cNvSpPr/>
          <p:nvPr/>
        </p:nvSpPr>
        <p:spPr>
          <a:xfrm>
            <a:off x="685800" y="22860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Colorbuds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Figure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Deck Of Cards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49C05B-A7D1-4FAD-A68E-AAB96E3C6297}"/>
              </a:ext>
            </a:extLst>
          </p:cNvPr>
          <p:cNvSpPr/>
          <p:nvPr/>
        </p:nvSpPr>
        <p:spPr>
          <a:xfrm>
            <a:off x="685800" y="3337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 aggressively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FD3B9F0-7DCD-7F8A-C37C-EC1132AC9C73}"/>
              </a:ext>
            </a:extLst>
          </p:cNvPr>
          <p:cNvSpPr/>
          <p:nvPr/>
        </p:nvSpPr>
        <p:spPr>
          <a:xfrm>
            <a:off x="6309360" y="146304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2A7367-52C5-3BE9-4FE7-5A9C402B662F}"/>
              </a:ext>
            </a:extLst>
          </p:cNvPr>
          <p:cNvSpPr/>
          <p:nvPr/>
        </p:nvSpPr>
        <p:spPr>
          <a:xfrm>
            <a:off x="6309360" y="1463040"/>
            <a:ext cx="91440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C6E05D-8298-967A-37A1-055C7D19864E}"/>
              </a:ext>
            </a:extLst>
          </p:cNvPr>
          <p:cNvSpPr/>
          <p:nvPr/>
        </p:nvSpPr>
        <p:spPr>
          <a:xfrm>
            <a:off x="6537960" y="1554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🐄 CASH COWS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973E8B-C417-7A03-0D54-6AA6CE95B057}"/>
              </a:ext>
            </a:extLst>
          </p:cNvPr>
          <p:cNvSpPr/>
          <p:nvPr/>
        </p:nvSpPr>
        <p:spPr>
          <a:xfrm>
            <a:off x="6537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+ Low Margin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1775C1-482C-A9F5-8652-4D2A3D0FB8E0}"/>
              </a:ext>
            </a:extLst>
          </p:cNvPr>
          <p:cNvSpPr/>
          <p:nvPr/>
        </p:nvSpPr>
        <p:spPr>
          <a:xfrm>
            <a:off x="6537960" y="22860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Lego Bricks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Magic Sand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Rubik's Cube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E32BC2-27FF-F419-14DA-DBB610FE06CA}"/>
              </a:ext>
            </a:extLst>
          </p:cNvPr>
          <p:cNvSpPr/>
          <p:nvPr/>
        </p:nvSpPr>
        <p:spPr>
          <a:xfrm>
            <a:off x="6537960" y="3337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Optimize pricing / sourcing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E2DE6F3-8E68-D363-151D-4B1CED95530A}"/>
              </a:ext>
            </a:extLst>
          </p:cNvPr>
          <p:cNvSpPr/>
          <p:nvPr/>
        </p:nvSpPr>
        <p:spPr>
          <a:xfrm>
            <a:off x="457200" y="402336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1A7AA42-B77B-363B-864B-335933A57948}"/>
              </a:ext>
            </a:extLst>
          </p:cNvPr>
          <p:cNvSpPr/>
          <p:nvPr/>
        </p:nvSpPr>
        <p:spPr>
          <a:xfrm>
            <a:off x="457200" y="4023360"/>
            <a:ext cx="91440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4A864C-739D-FBA8-BC83-6A41DD7E59A1}"/>
              </a:ext>
            </a:extLst>
          </p:cNvPr>
          <p:cNvSpPr/>
          <p:nvPr/>
        </p:nvSpPr>
        <p:spPr>
          <a:xfrm>
            <a:off x="68580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QUESTION MARKS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7EC1EB-2C2C-42EF-1655-CB5AC1154C69}"/>
              </a:ext>
            </a:extLst>
          </p:cNvPr>
          <p:cNvSpPr/>
          <p:nvPr/>
        </p:nvSpPr>
        <p:spPr>
          <a:xfrm>
            <a:off x="68580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 + High Margin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EFC21-61E5-63F2-7980-CD9116C4DCBA}"/>
              </a:ext>
            </a:extLst>
          </p:cNvPr>
          <p:cNvSpPr/>
          <p:nvPr/>
        </p:nvSpPr>
        <p:spPr>
          <a:xfrm>
            <a:off x="68580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Jenga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Playfoam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 Basketball Hoop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550368-E64A-2F20-F8C4-909F8AB5033B}"/>
              </a:ext>
            </a:extLst>
          </p:cNvPr>
          <p:cNvSpPr/>
          <p:nvPr/>
        </p:nvSpPr>
        <p:spPr>
          <a:xfrm>
            <a:off x="685800" y="5897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 &amp; scale winners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B0360F-583C-1FCE-81C1-6CD15EE75E2E}"/>
              </a:ext>
            </a:extLst>
          </p:cNvPr>
          <p:cNvSpPr/>
          <p:nvPr/>
        </p:nvSpPr>
        <p:spPr>
          <a:xfrm>
            <a:off x="6309360" y="402336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3192FFE-7F69-EDAA-A20F-80BE9FC85DF8}"/>
              </a:ext>
            </a:extLst>
          </p:cNvPr>
          <p:cNvSpPr/>
          <p:nvPr/>
        </p:nvSpPr>
        <p:spPr>
          <a:xfrm>
            <a:off x="6309360" y="4023360"/>
            <a:ext cx="91440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6CEA804-1F79-8919-A338-9364A202EE3D}"/>
              </a:ext>
            </a:extLst>
          </p:cNvPr>
          <p:cNvSpPr/>
          <p:nvPr/>
        </p:nvSpPr>
        <p:spPr>
          <a:xfrm>
            <a:off x="653796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🐕 DOGS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36F6CC0-B293-D409-0135-9467A2783B1D}"/>
              </a:ext>
            </a:extLst>
          </p:cNvPr>
          <p:cNvSpPr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 + Low Margin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C1A9360-5756-3DA2-8374-3A16322C6B1A}"/>
              </a:ext>
            </a:extLst>
          </p:cNvPr>
          <p:cNvSpPr/>
          <p:nvPr/>
        </p:nvSpPr>
        <p:spPr>
          <a:xfrm>
            <a:off x="653796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Uno Card Game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Classic Dominoes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Chutes &amp; Ladders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F6423DC-7BDF-5DE7-3DAE-CC9324C37B5D}"/>
              </a:ext>
            </a:extLst>
          </p:cNvPr>
          <p:cNvSpPr/>
          <p:nvPr/>
        </p:nvSpPr>
        <p:spPr>
          <a:xfrm>
            <a:off x="6537960" y="5897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Consider delisting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0F174D7-6950-5899-0FC1-3FDFE4E197B7}"/>
              </a:ext>
            </a:extLst>
          </p:cNvPr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422908E-0C46-7421-A429-8FF46EE86065}"/>
              </a:ext>
            </a:extLst>
          </p:cNvPr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6F16DD-1624-A757-E0CE-9AF4FB42BB49}"/>
              </a:ext>
            </a:extLst>
          </p:cNvPr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449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4B2C0-A112-BC42-A885-78A25D9F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578"/>
            <a:ext cx="12192000" cy="60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0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 — How concentrated is our revenue?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22353" y="411480"/>
            <a:ext cx="3436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total revenue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1D6ADD-3FD2-0E8E-EAB1-34FE6420CD63}"/>
              </a:ext>
            </a:extLst>
          </p:cNvPr>
          <p:cNvGrpSpPr/>
          <p:nvPr/>
        </p:nvGrpSpPr>
        <p:grpSpPr>
          <a:xfrm>
            <a:off x="9930063" y="1463040"/>
            <a:ext cx="1774256" cy="4721192"/>
            <a:chOff x="8046720" y="1463040"/>
            <a:chExt cx="3657600" cy="4572000"/>
          </a:xfrm>
        </p:grpSpPr>
        <p:sp>
          <p:nvSpPr>
            <p:cNvPr id="5" name="Shape 2"/>
            <p:cNvSpPr/>
            <p:nvPr/>
          </p:nvSpPr>
          <p:spPr>
            <a:xfrm>
              <a:off x="8046720" y="1463040"/>
              <a:ext cx="3657600" cy="2103120"/>
            </a:xfrm>
            <a:prstGeom prst="rect">
              <a:avLst/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 3"/>
            <p:cNvSpPr/>
            <p:nvPr/>
          </p:nvSpPr>
          <p:spPr>
            <a:xfrm>
              <a:off x="8046720" y="1554480"/>
              <a:ext cx="3657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9E79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42%</a:t>
              </a:r>
              <a:endParaRPr lang="en-US" sz="1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046720" y="29260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total revenue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comes from top 5 cities</a:t>
              </a:r>
              <a:endParaRPr lang="en-US" sz="12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8046720" y="3749040"/>
              <a:ext cx="3657600" cy="22860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Shape 6"/>
            <p:cNvSpPr/>
            <p:nvPr/>
          </p:nvSpPr>
          <p:spPr>
            <a:xfrm>
              <a:off x="8046720" y="3749040"/>
              <a:ext cx="91440" cy="228600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 7"/>
            <p:cNvSpPr/>
            <p:nvPr/>
          </p:nvSpPr>
          <p:spPr>
            <a:xfrm>
              <a:off x="8229600" y="384048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⚠️  Concentration risk</a:t>
              </a:r>
              <a:endParaRPr lang="en-US" sz="1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8229600" y="4297680"/>
              <a:ext cx="338328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6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29 cities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total, but heavy dependence on a handful. </a:t>
              </a:r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Diversifying secondary markets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would protect against local economic shocks.</a:t>
              </a:r>
              <a:endParaRPr lang="en-US" sz="12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F4F0B4-B4A5-9FF3-D17E-6B1E1DDC4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09" y="958602"/>
            <a:ext cx="9787610" cy="57701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 — Are we losing sales to stockouts?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out-of-stock in the most stores</a:t>
            </a:r>
            <a:endParaRPr lang="en-US" sz="1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878926-F64F-B9BA-2399-A40CFC484967}"/>
              </a:ext>
            </a:extLst>
          </p:cNvPr>
          <p:cNvGrpSpPr/>
          <p:nvPr/>
        </p:nvGrpSpPr>
        <p:grpSpPr>
          <a:xfrm>
            <a:off x="10042358" y="1463040"/>
            <a:ext cx="1661962" cy="4384307"/>
            <a:chOff x="8046720" y="1463040"/>
            <a:chExt cx="3657600" cy="4572000"/>
          </a:xfrm>
        </p:grpSpPr>
        <p:sp>
          <p:nvSpPr>
            <p:cNvPr id="5" name="Shape 2"/>
            <p:cNvSpPr/>
            <p:nvPr/>
          </p:nvSpPr>
          <p:spPr>
            <a:xfrm>
              <a:off x="8046720" y="1463040"/>
              <a:ext cx="3657600" cy="22860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 3"/>
            <p:cNvSpPr/>
            <p:nvPr/>
          </p:nvSpPr>
          <p:spPr>
            <a:xfrm>
              <a:off x="8046720" y="1554480"/>
              <a:ext cx="365760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77</a:t>
              </a:r>
              <a:endParaRPr lang="en-US" sz="4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046720" y="301752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store-product combinations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currently OUT OF STOCK</a:t>
              </a:r>
              <a:endParaRPr lang="en-US" sz="12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8046720" y="3931920"/>
              <a:ext cx="3657600" cy="21031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Shape 6"/>
            <p:cNvSpPr/>
            <p:nvPr/>
          </p:nvSpPr>
          <p:spPr>
            <a:xfrm>
              <a:off x="8046720" y="3931920"/>
              <a:ext cx="91440" cy="210312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 7"/>
            <p:cNvSpPr/>
            <p:nvPr/>
          </p:nvSpPr>
          <p:spPr>
            <a:xfrm>
              <a:off x="8229600" y="402336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F3C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💸  Estimated impact</a:t>
              </a:r>
              <a:endParaRPr lang="en-US" sz="1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8229600" y="4480560"/>
              <a:ext cx="338328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4.8%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of total inventory slots are empty. Many of these are popular SKUs — direct lost revenue if customers walk away.</a:t>
              </a:r>
              <a:endParaRPr lang="en-US" sz="1200" dirty="0"/>
            </a:p>
          </p:txBody>
        </p:sp>
      </p:grpSp>
      <p:sp>
        <p:nvSpPr>
          <p:cNvPr id="12" name="Shape 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37FAB-51B2-7A08-EC34-DF1E84201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6" y="1355558"/>
            <a:ext cx="9726295" cy="50051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Findings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56522" y="5633765"/>
            <a:ext cx="340855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Synthesizing 7 analyses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D8C0CA6-FCE6-0E28-6E64-5BB0CE124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57" y="390832"/>
            <a:ext cx="11158305" cy="4519114"/>
          </a:xfrm>
          <a:prstGeom prst="rect">
            <a:avLst/>
          </a:prstGeom>
        </p:spPr>
      </p:pic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Strategic Priorities for 2024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invest, what to fix, what to protect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Toys — Strategic Analysis 2023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CD14A79-4AEF-7AEB-34E2-F11329552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26" y="1644488"/>
            <a:ext cx="8558813" cy="48636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0"/>
            <a:ext cx="12161520" cy="7315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Team  |  ABC Toys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764</Words>
  <Application>Microsoft Office PowerPoint</Application>
  <PresentationFormat>Widescreen</PresentationFormat>
  <Paragraphs>159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Toys — Strategic Analysis 2022-2023</dc:title>
  <dc:subject>PptxGenJS Presentation</dc:subject>
  <dc:creator>ABC Toys Data Analyst Team</dc:creator>
  <cp:lastModifiedBy>Thương Thươngg</cp:lastModifiedBy>
  <cp:revision>3</cp:revision>
  <dcterms:created xsi:type="dcterms:W3CDTF">2026-05-16T08:45:49Z</dcterms:created>
  <dcterms:modified xsi:type="dcterms:W3CDTF">2026-05-19T15:09:33Z</dcterms:modified>
</cp:coreProperties>
</file>